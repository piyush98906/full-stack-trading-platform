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83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3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3.png"/><Relationship Id="rId5" Type="http://schemas.openxmlformats.org/officeDocument/2006/relationships/image" Target="../media/image21.png"/><Relationship Id="rId10" Type="http://schemas.openxmlformats.org/officeDocument/2006/relationships/image" Target="../media/image18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25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7.png"/><Relationship Id="rId5" Type="http://schemas.openxmlformats.org/officeDocument/2006/relationships/image" Target="../media/image29.png"/><Relationship Id="rId10" Type="http://schemas.openxmlformats.org/officeDocument/2006/relationships/image" Target="../media/image27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8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10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10" Type="http://schemas.openxmlformats.org/officeDocument/2006/relationships/image" Target="../media/image45.png"/><Relationship Id="rId4" Type="http://schemas.openxmlformats.org/officeDocument/2006/relationships/image" Target="../media/image42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6400800" cy="5486400"/>
          </a:xfrm>
          <a:prstGeom prst="ellipse">
            <a:avLst/>
          </a:prstGeom>
          <a:solidFill>
            <a:srgbClr val="1E3A6E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6858000" cy="5943600"/>
          </a:xfrm>
          <a:prstGeom prst="ellipse">
            <a:avLst/>
          </a:prstGeom>
          <a:solidFill>
            <a:srgbClr val="13243F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03504"/>
            <a:ext cx="146304" cy="146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70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MCA-II  ·  SEM-IV  ·  PROJECT REPORT  ·  2025–2026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2157984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548640" y="307238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Stack Trading Platform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three-tier-application, risk-free Indian equity trading simulation built with React, Node.js, Express &amp; MongoDB, deployed on the cloud.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892040"/>
            <a:ext cx="2556510" cy="1325880"/>
          </a:xfrm>
          <a:prstGeom prst="roundRect">
            <a:avLst>
              <a:gd name="adj" fmla="val 8276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68680" y="5074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8680" y="52852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Kiran Oswal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68680" y="5669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26424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No. 53236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867144" y="1837944"/>
            <a:ext cx="4828032" cy="2487168"/>
          </a:xfrm>
          <a:prstGeom prst="roundRect">
            <a:avLst>
              <a:gd name="adj" fmla="val 2941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1" descr="/home/claude/assets/land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03720" y="1874520"/>
            <a:ext cx="4754880" cy="241401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903720" y="4498848"/>
            <a:ext cx="1115568" cy="603504"/>
          </a:xfrm>
          <a:prstGeom prst="roundRect">
            <a:avLst>
              <a:gd name="adj" fmla="val 12121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922008" y="456285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922008" y="47548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22,475 </a:t>
            </a:r>
            <a:r>
              <a:rPr lang="en-US" sz="800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10728" y="4498848"/>
            <a:ext cx="1115568" cy="603504"/>
          </a:xfrm>
          <a:prstGeom prst="roundRect">
            <a:avLst>
              <a:gd name="adj" fmla="val 12121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8129016" y="456285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SENSEX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8129016" y="47548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73,985 </a:t>
            </a:r>
            <a:r>
              <a:rPr lang="en-US" sz="800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9317736" y="4498848"/>
            <a:ext cx="1115568" cy="603504"/>
          </a:xfrm>
          <a:prstGeom prst="roundRect">
            <a:avLst>
              <a:gd name="adj" fmla="val 12121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9336024" y="456285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NIFTY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9336024" y="47548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48,210 </a:t>
            </a:r>
            <a:r>
              <a:rPr lang="en-US" sz="800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10524744" y="4498848"/>
            <a:ext cx="1115568" cy="603504"/>
          </a:xfrm>
          <a:prstGeom prst="roundRect">
            <a:avLst>
              <a:gd name="adj" fmla="val 12121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10543032" y="456285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IT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0543032" y="47548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36,992 </a:t>
            </a:r>
            <a:r>
              <a:rPr lang="en-US" sz="800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903720" y="5230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 ·  full-stack-trading-platform-rhma.vercel.app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2519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21824" y="329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25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 ·  A Full Stack Trading Platform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31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Trading Sphere?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27632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replicates the complete lifecycle of a real Indian retail trading session from registration and stock discovery to order placement, portfolio review and fund management in a fully simulated, risk-free environment.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669280" cy="877824"/>
          </a:xfrm>
          <a:prstGeom prst="roundRect">
            <a:avLst>
              <a:gd name="adj" fmla="val 10417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49808" y="31363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284525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4015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669280" cy="877824"/>
          </a:xfrm>
          <a:prstGeom prst="roundRect">
            <a:avLst>
              <a:gd name="adj" fmla="val 10417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49808" y="41422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290365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1056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Live-like market data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63040" y="44074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via the Upstox API with an automatic seeded fallback.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983480"/>
            <a:ext cx="5669280" cy="877824"/>
          </a:xfrm>
          <a:prstGeom prst="roundRect">
            <a:avLst>
              <a:gd name="adj" fmla="val 10417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49808" y="51480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5296205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51114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role-based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63040" y="54132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protected routes and an admin control panel.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720840" y="1600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THREE-TIER APPLICATION ARCHITECTURE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720840" y="1993392"/>
            <a:ext cx="4892040" cy="1170432"/>
          </a:xfrm>
          <a:prstGeom prst="roundRect">
            <a:avLst>
              <a:gd name="adj" fmla="val 93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6976872" y="229514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9818" y="2458090"/>
            <a:ext cx="277612" cy="2776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772400" y="22311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7772400" y="25968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Products · Pricing · About · Support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983980" y="3154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720840" y="3410712"/>
            <a:ext cx="4892040" cy="1170432"/>
          </a:xfrm>
          <a:prstGeom prst="roundRect">
            <a:avLst>
              <a:gd name="adj" fmla="val 93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976872" y="371246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818" y="3875410"/>
            <a:ext cx="277612" cy="2776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772400" y="36484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Dashboard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7772400" y="40142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· Holdings · Positions · Orders · Funds · Admin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983980" y="45720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720840" y="4828032"/>
            <a:ext cx="4892040" cy="1170432"/>
          </a:xfrm>
          <a:prstGeom prst="roundRect">
            <a:avLst>
              <a:gd name="adj" fmla="val 93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0"/>
          <p:cNvSpPr/>
          <p:nvPr/>
        </p:nvSpPr>
        <p:spPr>
          <a:xfrm>
            <a:off x="6976872" y="512978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9818" y="5292730"/>
            <a:ext cx="277612" cy="27761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772400" y="506577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700" dirty="0"/>
          </a:p>
        </p:txBody>
      </p:sp>
      <p:sp>
        <p:nvSpPr>
          <p:cNvPr id="41" name="Text 32"/>
          <p:cNvSpPr/>
          <p:nvPr/>
        </p:nvSpPr>
        <p:spPr>
          <a:xfrm>
            <a:off x="7772400" y="54315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· REST · Auth · Market data service</a:t>
            </a:r>
            <a:endParaRPr lang="en-US" sz="11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CF90FCA3-6F1B-1A46-D7FC-B3EBFF7D346B}"/>
              </a:ext>
            </a:extLst>
          </p:cNvPr>
          <p:cNvSpPr/>
          <p:nvPr/>
        </p:nvSpPr>
        <p:spPr>
          <a:xfrm>
            <a:off x="1463040" y="30617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application</a:t>
            </a:r>
            <a:endParaRPr lang="en-US" sz="145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360C22FA-FC43-B3C5-4551-2D5C30D6CA79}"/>
              </a:ext>
            </a:extLst>
          </p:cNvPr>
          <p:cNvSpPr/>
          <p:nvPr/>
        </p:nvSpPr>
        <p:spPr>
          <a:xfrm>
            <a:off x="1463040" y="34015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Presentation, logic and data tiers, deployed as independent applications.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2519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21824" y="329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25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 ·  A Full Stack Trading Platform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MOTIVATION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31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Need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27632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0D1424"/>
          </a:solidFill>
          <a:ln w="19050">
            <a:solidFill>
              <a:srgbClr val="3A1820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22960" y="188366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182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31" y="2036735"/>
            <a:ext cx="260787" cy="2607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08760" y="21396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trade safely is hard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22960" y="2743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182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286664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44752" y="2706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Real-money risk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444752" y="29900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must open live brokerage accounts and risk real capital just to learn.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2960" y="3584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182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3707892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44752" y="3547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simulators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444752" y="38313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paper-trading tools don't reflect real order, portfolio and fund workflows.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22960" y="44256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182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" y="4549140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44752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academic work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444752" y="467258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show only frontend or backend  never an integrated full-stack system.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22960" y="52669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182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404" y="5390388"/>
            <a:ext cx="210312" cy="2103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444752" y="5230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444752" y="55138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that depend entirely on a live market API break when that API is down.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245352" y="1627632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0D1424"/>
          </a:solidFill>
          <a:ln w="19050">
            <a:solidFill>
              <a:srgbClr val="123A2E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6519672" y="188366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23A2E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2743" y="2036735"/>
            <a:ext cx="260787" cy="26078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205472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7205472" y="21396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realistic, risk-free trading platform</a:t>
            </a:r>
            <a:endParaRPr lang="en-US" sz="1500" dirty="0"/>
          </a:p>
        </p:txBody>
      </p:sp>
      <p:sp>
        <p:nvSpPr>
          <p:cNvPr id="34" name="Shape 25"/>
          <p:cNvSpPr/>
          <p:nvPr/>
        </p:nvSpPr>
        <p:spPr>
          <a:xfrm>
            <a:off x="6519672" y="2743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3A2E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3116" y="2866644"/>
            <a:ext cx="210312" cy="21031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141464" y="2706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True-to-life workflows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7141464" y="29900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search, buy/sell, holdings, positions, funds &amp; order tracking  end to end.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6519672" y="3584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3A2E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3116" y="3707892"/>
            <a:ext cx="210312" cy="21031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141464" y="3547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full-stack project</a:t>
            </a:r>
            <a:endParaRPr lang="en-US" sz="1300" dirty="0"/>
          </a:p>
        </p:txBody>
      </p:sp>
      <p:sp>
        <p:nvSpPr>
          <p:cNvPr id="41" name="Text 30"/>
          <p:cNvSpPr/>
          <p:nvPr/>
        </p:nvSpPr>
        <p:spPr>
          <a:xfrm>
            <a:off x="7141464" y="38313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database, auth, API integration &amp; cloud deployment together.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6519672" y="44256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3A2E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3116" y="4549140"/>
            <a:ext cx="210312" cy="21031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141464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300" dirty="0"/>
          </a:p>
        </p:txBody>
      </p:sp>
      <p:sp>
        <p:nvSpPr>
          <p:cNvPr id="45" name="Text 33"/>
          <p:cNvSpPr/>
          <p:nvPr/>
        </p:nvSpPr>
        <p:spPr>
          <a:xfrm>
            <a:off x="7141464" y="467258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and role-based access protect user and admin operations.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6519672" y="52669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3A2E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3116" y="5390388"/>
            <a:ext cx="210312" cy="210312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7141464" y="5230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1300" dirty="0"/>
          </a:p>
        </p:txBody>
      </p:sp>
      <p:sp>
        <p:nvSpPr>
          <p:cNvPr id="49" name="Text 36"/>
          <p:cNvSpPr/>
          <p:nvPr/>
        </p:nvSpPr>
        <p:spPr>
          <a:xfrm>
            <a:off x="7141464" y="55138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seeded local dataset keeps every feature working even without the live API.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2519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21824" y="329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25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 ·  A Full Stack Trading Platform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GOALS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31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86384" y="192938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330" y="2092330"/>
            <a:ext cx="277612" cy="2776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00984" y="1892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9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86384" y="260604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website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86384" y="294436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features, pricing and purpose to prospective users.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4261104" y="1691640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498848" y="192938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794" y="2092330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13448" y="1892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9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4498848" y="260604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498848" y="294436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 giving users a personalised trading dashboard.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7973568" y="1691640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8211312" y="192938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258" y="2092330"/>
            <a:ext cx="277612" cy="2776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725912" y="1892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9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8211312" y="260604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trading engine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211312" y="294436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stocks, place buy/sell orders, manage holdings, positions &amp; funds.</a:t>
            </a:r>
            <a:endParaRPr lang="en-US" sz="1080" dirty="0"/>
          </a:p>
        </p:txBody>
      </p:sp>
      <p:sp>
        <p:nvSpPr>
          <p:cNvPr id="26" name="Shape 20"/>
          <p:cNvSpPr/>
          <p:nvPr/>
        </p:nvSpPr>
        <p:spPr>
          <a:xfrm>
            <a:off x="548640" y="3730752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786384" y="39684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330" y="4131442"/>
            <a:ext cx="277612" cy="2776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300984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9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786384" y="4645152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backend API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786384" y="498348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routes for auth, orders, portfolio and admin operations.</a:t>
            </a:r>
            <a:endParaRPr lang="en-US" sz="1080" dirty="0"/>
          </a:p>
        </p:txBody>
      </p:sp>
      <p:sp>
        <p:nvSpPr>
          <p:cNvPr id="32" name="Shape 25"/>
          <p:cNvSpPr/>
          <p:nvPr/>
        </p:nvSpPr>
        <p:spPr>
          <a:xfrm>
            <a:off x="4261104" y="3730752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4498848" y="39684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1794" y="4131442"/>
            <a:ext cx="277612" cy="27761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013448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9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28"/>
          <p:cNvSpPr/>
          <p:nvPr/>
        </p:nvSpPr>
        <p:spPr>
          <a:xfrm>
            <a:off x="4498848" y="4645152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Integration 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4498848" y="498348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US" sz="10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Upstox API for live stock quotes, search and market overview.</a:t>
            </a:r>
            <a:endParaRPr lang="en-US" sz="1080" dirty="0"/>
          </a:p>
        </p:txBody>
      </p:sp>
      <p:sp>
        <p:nvSpPr>
          <p:cNvPr id="38" name="Shape 30"/>
          <p:cNvSpPr/>
          <p:nvPr/>
        </p:nvSpPr>
        <p:spPr>
          <a:xfrm>
            <a:off x="7973568" y="3730752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1"/>
          <p:cNvSpPr/>
          <p:nvPr/>
        </p:nvSpPr>
        <p:spPr>
          <a:xfrm>
            <a:off x="8211312" y="39684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4258" y="4131442"/>
            <a:ext cx="277612" cy="27761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725912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9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33"/>
          <p:cNvSpPr/>
          <p:nvPr/>
        </p:nvSpPr>
        <p:spPr>
          <a:xfrm>
            <a:off x="8211312" y="4645152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deployment</a:t>
            </a:r>
            <a:endParaRPr lang="en-US" sz="1500" dirty="0"/>
          </a:p>
        </p:txBody>
      </p:sp>
      <p:sp>
        <p:nvSpPr>
          <p:cNvPr id="43" name="Text 34"/>
          <p:cNvSpPr/>
          <p:nvPr/>
        </p:nvSpPr>
        <p:spPr>
          <a:xfrm>
            <a:off x="8211312" y="498348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for oversight; three apps deployed as cloud services.</a:t>
            </a:r>
            <a:endParaRPr lang="en-US" sz="10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2519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21824" y="329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25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 ·  A Full Stack Trading Platform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DESIGN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31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System Architecture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1975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3127248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48640" y="3438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4590288"/>
            <a:ext cx="1463040" cy="1170432"/>
          </a:xfrm>
          <a:prstGeom prst="roundRect">
            <a:avLst>
              <a:gd name="adj" fmla="val 7813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" y="4901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5193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086600" y="2889504"/>
            <a:ext cx="0" cy="237744"/>
          </a:xfrm>
          <a:prstGeom prst="line">
            <a:avLst/>
          </a:prstGeom>
          <a:noFill/>
          <a:ln w="19050">
            <a:solidFill>
              <a:srgbClr val="657392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086600" y="4352544"/>
            <a:ext cx="0" cy="237744"/>
          </a:xfrm>
          <a:prstGeom prst="line">
            <a:avLst/>
          </a:prstGeom>
          <a:noFill/>
          <a:ln w="19050">
            <a:solidFill>
              <a:srgbClr val="657392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2194560" y="1664208"/>
            <a:ext cx="4617720" cy="1170432"/>
          </a:xfrm>
          <a:prstGeom prst="roundRect">
            <a:avLst>
              <a:gd name="adj" fmla="val 7813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423160" y="17922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423160" y="207568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423160" y="2331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Products · Pricing · About · Support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60920" y="1664208"/>
            <a:ext cx="4617720" cy="1170432"/>
          </a:xfrm>
          <a:prstGeom prst="roundRect">
            <a:avLst>
              <a:gd name="adj" fmla="val 7813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589520" y="17922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Dashboard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589520" y="207568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589520" y="2331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· Holdings · Positions · Orders · Funds · Admin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194560" y="3127248"/>
            <a:ext cx="9784080" cy="1170432"/>
          </a:xfrm>
          <a:prstGeom prst="roundRect">
            <a:avLst>
              <a:gd name="adj" fmla="val 7813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423160" y="32461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  ·   Node.js + Express.js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423160" y="363931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423160" y="3639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886200" y="3639312"/>
            <a:ext cx="969264" cy="45720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3886200" y="3639312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946904" y="3639312"/>
            <a:ext cx="1517904" cy="45720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946904" y="363931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556248" y="3639312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556248" y="363931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129016" y="3639312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8129016" y="363931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Service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9921240" y="3639312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9921240" y="36393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194560" y="4590288"/>
            <a:ext cx="4617720" cy="1170432"/>
          </a:xfrm>
          <a:prstGeom prst="roundRect">
            <a:avLst>
              <a:gd name="adj" fmla="val 7813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2423160" y="48463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23A2E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06" y="5009266"/>
            <a:ext cx="277612" cy="27761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3154680" y="48280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3154680" y="51023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2423160" y="5413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Orders · Holdings · Positions · Funds · Watchlists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7360920" y="4590288"/>
            <a:ext cx="4617720" cy="1170432"/>
          </a:xfrm>
          <a:prstGeom prst="roundRect">
            <a:avLst>
              <a:gd name="adj" fmla="val 7813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7589520" y="48463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E3A6E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466" y="5009266"/>
            <a:ext cx="277612" cy="277612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8321040" y="48280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Upstox API</a:t>
            </a:r>
            <a:endParaRPr lang="en-US" sz="1400" dirty="0"/>
          </a:p>
        </p:txBody>
      </p:sp>
      <p:sp>
        <p:nvSpPr>
          <p:cNvPr id="51" name="Text 46"/>
          <p:cNvSpPr/>
          <p:nvPr/>
        </p:nvSpPr>
        <p:spPr>
          <a:xfrm>
            <a:off x="8321040" y="51023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market service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7589520" y="5413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quotes · company info  →  seeded fallback when unavailable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2194560" y="58978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REST between every tier  ·  stateless serverless backend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2519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21824" y="329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25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 ·  A Full Stack Trading Platform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TOOLING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31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2706624" cy="4343400"/>
          </a:xfrm>
          <a:prstGeom prst="roundRect">
            <a:avLst>
              <a:gd name="adj" fmla="val 4054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49808" y="189280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13232" y="2350008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859536" y="262432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9" y="2772461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587752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2916936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13232" y="3557016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59536" y="383133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9" y="3979469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79476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4123944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13232" y="4764024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859536" y="50383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69" y="5186477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00176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508760" y="533095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74136" y="1691640"/>
            <a:ext cx="2706624" cy="4343400"/>
          </a:xfrm>
          <a:prstGeom prst="roundRect">
            <a:avLst>
              <a:gd name="adj" fmla="val 4054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3575304" y="189280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3538728" y="2350008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3685032" y="262432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3165" y="2772461"/>
            <a:ext cx="252374" cy="25237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334256" y="2587752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334256" y="2916936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538728" y="3557016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3685032" y="383133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3165" y="3979469"/>
            <a:ext cx="252374" cy="25237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334256" y="379476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4334256" y="4123944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framework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3538728" y="4764024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0"/>
          <p:cNvSpPr/>
          <p:nvPr/>
        </p:nvSpPr>
        <p:spPr>
          <a:xfrm>
            <a:off x="3685032" y="50383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3165" y="5186477"/>
            <a:ext cx="252374" cy="25237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334256" y="500176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4334256" y="533095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hashing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6199632" y="1691640"/>
            <a:ext cx="2706624" cy="4343400"/>
          </a:xfrm>
          <a:prstGeom prst="roundRect">
            <a:avLst>
              <a:gd name="adj" fmla="val 4054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/>
          <p:nvPr/>
        </p:nvSpPr>
        <p:spPr>
          <a:xfrm>
            <a:off x="6400800" y="189280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44" name="Shape 35"/>
          <p:cNvSpPr/>
          <p:nvPr/>
        </p:nvSpPr>
        <p:spPr>
          <a:xfrm>
            <a:off x="6364224" y="2350008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6"/>
          <p:cNvSpPr/>
          <p:nvPr/>
        </p:nvSpPr>
        <p:spPr>
          <a:xfrm>
            <a:off x="6510528" y="262432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8661" y="2772461"/>
            <a:ext cx="252374" cy="252374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159752" y="2587752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48" name="Text 38"/>
          <p:cNvSpPr/>
          <p:nvPr/>
        </p:nvSpPr>
        <p:spPr>
          <a:xfrm>
            <a:off x="7159752" y="2916936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store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6364224" y="3557016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0"/>
          <p:cNvSpPr/>
          <p:nvPr/>
        </p:nvSpPr>
        <p:spPr>
          <a:xfrm>
            <a:off x="6510528" y="383133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8661" y="3979469"/>
            <a:ext cx="252374" cy="252374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7159752" y="379476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400" dirty="0"/>
          </a:p>
        </p:txBody>
      </p:sp>
      <p:sp>
        <p:nvSpPr>
          <p:cNvPr id="53" name="Text 42"/>
          <p:cNvSpPr/>
          <p:nvPr/>
        </p:nvSpPr>
        <p:spPr>
          <a:xfrm>
            <a:off x="7159752" y="4123944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 / schemas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6364224" y="4764024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44"/>
          <p:cNvSpPr/>
          <p:nvPr/>
        </p:nvSpPr>
        <p:spPr>
          <a:xfrm>
            <a:off x="6510528" y="50383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58661" y="5186477"/>
            <a:ext cx="252374" cy="252374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159752" y="500176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400" dirty="0"/>
          </a:p>
        </p:txBody>
      </p:sp>
      <p:sp>
        <p:nvSpPr>
          <p:cNvPr id="58" name="Text 46"/>
          <p:cNvSpPr/>
          <p:nvPr/>
        </p:nvSpPr>
        <p:spPr>
          <a:xfrm>
            <a:off x="7159752" y="533095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cluster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9025128" y="1691640"/>
            <a:ext cx="2706624" cy="4343400"/>
          </a:xfrm>
          <a:prstGeom prst="roundRect">
            <a:avLst>
              <a:gd name="adj" fmla="val 4054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Text 48"/>
          <p:cNvSpPr/>
          <p:nvPr/>
        </p:nvSpPr>
        <p:spPr>
          <a:xfrm>
            <a:off x="9226296" y="189280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&amp; DEPLOY</a:t>
            </a:r>
            <a:endParaRPr lang="en-US" sz="1150" dirty="0"/>
          </a:p>
        </p:txBody>
      </p:sp>
      <p:sp>
        <p:nvSpPr>
          <p:cNvPr id="61" name="Shape 49"/>
          <p:cNvSpPr/>
          <p:nvPr/>
        </p:nvSpPr>
        <p:spPr>
          <a:xfrm>
            <a:off x="9189720" y="2350008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0"/>
          <p:cNvSpPr/>
          <p:nvPr/>
        </p:nvSpPr>
        <p:spPr>
          <a:xfrm>
            <a:off x="9336024" y="262432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84157" y="2772461"/>
            <a:ext cx="252374" cy="252374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9985248" y="2587752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Upstox API</a:t>
            </a:r>
            <a:endParaRPr lang="en-US" sz="1400" dirty="0"/>
          </a:p>
        </p:txBody>
      </p:sp>
      <p:sp>
        <p:nvSpPr>
          <p:cNvPr id="65" name="Text 52"/>
          <p:cNvSpPr/>
          <p:nvPr/>
        </p:nvSpPr>
        <p:spPr>
          <a:xfrm>
            <a:off x="9985248" y="2916936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000" dirty="0"/>
          </a:p>
        </p:txBody>
      </p:sp>
      <p:sp>
        <p:nvSpPr>
          <p:cNvPr id="66" name="Shape 53"/>
          <p:cNvSpPr/>
          <p:nvPr/>
        </p:nvSpPr>
        <p:spPr>
          <a:xfrm>
            <a:off x="9189720" y="3557016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54"/>
          <p:cNvSpPr/>
          <p:nvPr/>
        </p:nvSpPr>
        <p:spPr>
          <a:xfrm>
            <a:off x="9336024" y="383133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84157" y="3979469"/>
            <a:ext cx="252374" cy="252374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9985248" y="379476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00" dirty="0"/>
          </a:p>
        </p:txBody>
      </p:sp>
      <p:sp>
        <p:nvSpPr>
          <p:cNvPr id="70" name="Text 56"/>
          <p:cNvSpPr/>
          <p:nvPr/>
        </p:nvSpPr>
        <p:spPr>
          <a:xfrm>
            <a:off x="9985248" y="4123944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host</a:t>
            </a:r>
            <a:endParaRPr lang="en-US" sz="1000" dirty="0"/>
          </a:p>
        </p:txBody>
      </p:sp>
      <p:sp>
        <p:nvSpPr>
          <p:cNvPr id="71" name="Shape 57"/>
          <p:cNvSpPr/>
          <p:nvPr/>
        </p:nvSpPr>
        <p:spPr>
          <a:xfrm>
            <a:off x="9189720" y="4764024"/>
            <a:ext cx="2377440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58"/>
          <p:cNvSpPr/>
          <p:nvPr/>
        </p:nvSpPr>
        <p:spPr>
          <a:xfrm>
            <a:off x="9336024" y="50383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4157" y="5186477"/>
            <a:ext cx="252374" cy="252374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9985248" y="500176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400" dirty="0"/>
          </a:p>
        </p:txBody>
      </p:sp>
      <p:sp>
        <p:nvSpPr>
          <p:cNvPr id="75" name="Text 60"/>
          <p:cNvSpPr/>
          <p:nvPr/>
        </p:nvSpPr>
        <p:spPr>
          <a:xfrm>
            <a:off x="9985248" y="533095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2519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21824" y="329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25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 ·  A Full Stack Trading Platform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DATA MODEL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31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2763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Mongoose-modelled collections in MongoDB Atlas, centred on the User entity. Schemas enforce validation, defaults and relationships across the platform.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395728"/>
            <a:ext cx="3529584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31520" y="2651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27998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257860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89888" y="2898648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email · password · role · pan · availableFunds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261104" y="2395728"/>
            <a:ext cx="3529584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443984" y="2651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117" y="279989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02352" y="257860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02352" y="2898648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· qty · price · mode · type · exchange · status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7973568" y="2395728"/>
            <a:ext cx="3529584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156448" y="2651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4581" y="279989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14816" y="257860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814816" y="2898648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· qty · avgPrice · currentPrice · dailyReturn</a:t>
            </a:r>
            <a:endParaRPr lang="en-US" sz="960" dirty="0"/>
          </a:p>
        </p:txBody>
      </p:sp>
      <p:sp>
        <p:nvSpPr>
          <p:cNvPr id="24" name="Shape 18"/>
          <p:cNvSpPr/>
          <p:nvPr/>
        </p:nvSpPr>
        <p:spPr>
          <a:xfrm>
            <a:off x="548640" y="3657600"/>
            <a:ext cx="3529584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31520" y="39136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3" y="4061765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384048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389888" y="416052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· qty · buyPrice · currentPrice · productType</a:t>
            </a:r>
            <a:endParaRPr lang="en-US" sz="960" dirty="0"/>
          </a:p>
        </p:txBody>
      </p:sp>
      <p:sp>
        <p:nvSpPr>
          <p:cNvPr id="29" name="Shape 22"/>
          <p:cNvSpPr/>
          <p:nvPr/>
        </p:nvSpPr>
        <p:spPr>
          <a:xfrm>
            <a:off x="4261104" y="3657600"/>
            <a:ext cx="3529584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4443984" y="39136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2117" y="4061765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02352" y="384048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Transaction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102352" y="416052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· amount · status · remark · createdAt</a:t>
            </a:r>
            <a:endParaRPr lang="en-US" sz="960" dirty="0"/>
          </a:p>
        </p:txBody>
      </p:sp>
      <p:sp>
        <p:nvSpPr>
          <p:cNvPr id="34" name="Shape 26"/>
          <p:cNvSpPr/>
          <p:nvPr/>
        </p:nvSpPr>
        <p:spPr>
          <a:xfrm>
            <a:off x="7973568" y="3657600"/>
            <a:ext cx="3529584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8156448" y="39136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4581" y="4061765"/>
            <a:ext cx="252374" cy="25237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814816" y="384048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8814816" y="416052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symbol · companyName · addedAt</a:t>
            </a:r>
            <a:endParaRPr lang="en-US" sz="960" dirty="0"/>
          </a:p>
        </p:txBody>
      </p:sp>
      <p:sp>
        <p:nvSpPr>
          <p:cNvPr id="39" name="Shape 30"/>
          <p:cNvSpPr/>
          <p:nvPr/>
        </p:nvSpPr>
        <p:spPr>
          <a:xfrm>
            <a:off x="548640" y="4919472"/>
            <a:ext cx="3529584" cy="1078992"/>
          </a:xfrm>
          <a:prstGeom prst="roundRect">
            <a:avLst>
              <a:gd name="adj" fmla="val 847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1"/>
          <p:cNvSpPr/>
          <p:nvPr/>
        </p:nvSpPr>
        <p:spPr>
          <a:xfrm>
            <a:off x="731520" y="51755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653" y="5323637"/>
            <a:ext cx="252374" cy="25237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389888" y="510235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Stock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1389888" y="5422392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· company · exchange · sector · price</a:t>
            </a:r>
            <a:endParaRPr lang="en-US" sz="960" dirty="0"/>
          </a:p>
        </p:txBody>
      </p:sp>
      <p:sp>
        <p:nvSpPr>
          <p:cNvPr id="44" name="Shape 34"/>
          <p:cNvSpPr/>
          <p:nvPr/>
        </p:nvSpPr>
        <p:spPr>
          <a:xfrm>
            <a:off x="4261104" y="4919472"/>
            <a:ext cx="3529584" cy="1078992"/>
          </a:xfrm>
          <a:prstGeom prst="roundRect">
            <a:avLst>
              <a:gd name="adj" fmla="val 8475"/>
            </a:avLst>
          </a:prstGeom>
          <a:solidFill>
            <a:srgbClr val="123A2E"/>
          </a:solidFill>
          <a:ln w="12700">
            <a:solidFill>
              <a:srgbClr val="26C2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5"/>
          <p:cNvSpPr/>
          <p:nvPr/>
        </p:nvSpPr>
        <p:spPr>
          <a:xfrm>
            <a:off x="4443984" y="51755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2117" y="5323637"/>
            <a:ext cx="252374" cy="25237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102352" y="510235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MongoDB Atlas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5102352" y="5422392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free-tier cluster · live &amp; queryable</a:t>
            </a:r>
            <a:endParaRPr lang="en-US" sz="96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2519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21824" y="329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25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 ·  A Full Stack Trading Platform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MODULES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31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Features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2670048" cy="1938528"/>
          </a:xfrm>
          <a:prstGeom prst="roundRect">
            <a:avLst>
              <a:gd name="adj" fmla="val 5660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86384" y="203911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43" y="2216871"/>
            <a:ext cx="302849" cy="3028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282549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86384" y="31546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track instruments by symbol or company name.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64992" y="1783080"/>
            <a:ext cx="2670048" cy="1938528"/>
          </a:xfrm>
          <a:prstGeom prst="roundRect">
            <a:avLst>
              <a:gd name="adj" fmla="val 5660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3602736" y="203911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495" y="2216871"/>
            <a:ext cx="302849" cy="3028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02736" y="282549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602736" y="31546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Delivery-based portfolio with avg price, LTP &amp; P&amp;L.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81344" y="1783080"/>
            <a:ext cx="2670048" cy="1938528"/>
          </a:xfrm>
          <a:prstGeom prst="roundRect">
            <a:avLst>
              <a:gd name="adj" fmla="val 5660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419088" y="203911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6847" y="2216871"/>
            <a:ext cx="302849" cy="3028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19088" y="282549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19088" y="31546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intraday / product-specific open exposures.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997696" y="1783080"/>
            <a:ext cx="2670048" cy="1938528"/>
          </a:xfrm>
          <a:prstGeom prst="roundRect">
            <a:avLst>
              <a:gd name="adj" fmla="val 5660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9235440" y="203911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3199" y="2216871"/>
            <a:ext cx="302849" cy="30284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235440" y="282549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235440" y="31546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buy &amp; sell order history with status &amp; timestamps.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48640" y="3941064"/>
            <a:ext cx="2670048" cy="1938528"/>
          </a:xfrm>
          <a:prstGeom prst="roundRect">
            <a:avLst>
              <a:gd name="adj" fmla="val 5660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786384" y="419709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143" y="4374855"/>
            <a:ext cx="302849" cy="30284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86384" y="498348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86384" y="531266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withdraw funds with full transaction history.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3364992" y="3941064"/>
            <a:ext cx="2670048" cy="1938528"/>
          </a:xfrm>
          <a:prstGeom prst="roundRect">
            <a:avLst>
              <a:gd name="adj" fmla="val 5660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6"/>
          <p:cNvSpPr/>
          <p:nvPr/>
        </p:nvSpPr>
        <p:spPr>
          <a:xfrm>
            <a:off x="3602736" y="419709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0495" y="4374855"/>
            <a:ext cx="302849" cy="30284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602736" y="498348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3602736" y="531266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allocation donut &amp; 30-day performance chart.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181344" y="3941064"/>
            <a:ext cx="2670048" cy="1938528"/>
          </a:xfrm>
          <a:prstGeom prst="roundRect">
            <a:avLst>
              <a:gd name="adj" fmla="val 5660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0"/>
          <p:cNvSpPr/>
          <p:nvPr/>
        </p:nvSpPr>
        <p:spPr>
          <a:xfrm>
            <a:off x="6419088" y="419709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6847" y="4374855"/>
            <a:ext cx="302849" cy="302849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419088" y="498348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500" dirty="0"/>
          </a:p>
        </p:txBody>
      </p:sp>
      <p:sp>
        <p:nvSpPr>
          <p:cNvPr id="42" name="Text 32"/>
          <p:cNvSpPr/>
          <p:nvPr/>
        </p:nvSpPr>
        <p:spPr>
          <a:xfrm>
            <a:off x="6419088" y="531266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name, phone, PAN &amp; avatar management.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8997696" y="3931733"/>
            <a:ext cx="2670048" cy="1938528"/>
          </a:xfrm>
          <a:prstGeom prst="roundRect">
            <a:avLst>
              <a:gd name="adj" fmla="val 5660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4"/>
          <p:cNvSpPr/>
          <p:nvPr/>
        </p:nvSpPr>
        <p:spPr>
          <a:xfrm>
            <a:off x="9235440" y="419709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3199" y="4374855"/>
            <a:ext cx="302849" cy="302849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235440" y="498348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47" name="Text 36"/>
          <p:cNvSpPr/>
          <p:nvPr/>
        </p:nvSpPr>
        <p:spPr>
          <a:xfrm>
            <a:off x="9235440" y="531266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view of users, orders, holdings &amp; positions.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2519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21824" y="329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25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 ·  A Full Stack Trading Platform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SECURITY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31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 (JWT)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271016" y="2395728"/>
            <a:ext cx="9646920" cy="0"/>
          </a:xfrm>
          <a:prstGeom prst="line">
            <a:avLst/>
          </a:prstGeom>
          <a:noFill/>
          <a:ln w="1905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86968" y="2011680"/>
            <a:ext cx="768096" cy="768096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8696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1444752" cy="1188720"/>
          </a:xfrm>
          <a:prstGeom prst="roundRect">
            <a:avLst>
              <a:gd name="adj" fmla="val 7692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21792" y="30906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request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1792" y="352958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email &amp; password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2494788" y="2011680"/>
            <a:ext cx="768096" cy="768096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49478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2156460" y="2971800"/>
            <a:ext cx="1444752" cy="1188720"/>
          </a:xfrm>
          <a:prstGeom prst="roundRect">
            <a:avLst>
              <a:gd name="adj" fmla="val 7692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229612" y="30906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229612" y="352958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checked against DB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4102608" y="2011680"/>
            <a:ext cx="768096" cy="768096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10260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3764280" y="2971800"/>
            <a:ext cx="1444752" cy="1188720"/>
          </a:xfrm>
          <a:prstGeom prst="roundRect">
            <a:avLst>
              <a:gd name="adj" fmla="val 7692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837432" y="30906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generated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837432" y="352958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token issued to client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710428" y="2011680"/>
            <a:ext cx="768096" cy="768096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71042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5372100" y="2971800"/>
            <a:ext cx="1444752" cy="1188720"/>
          </a:xfrm>
          <a:prstGeom prst="roundRect">
            <a:avLst>
              <a:gd name="adj" fmla="val 7692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445252" y="30906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45252" y="352958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 client local storage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7318248" y="2011680"/>
            <a:ext cx="768096" cy="768096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731824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6979920" y="2971800"/>
            <a:ext cx="1444752" cy="1188720"/>
          </a:xfrm>
          <a:prstGeom prst="roundRect">
            <a:avLst>
              <a:gd name="adj" fmla="val 7692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7053072" y="30906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request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7053072" y="352958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sent in Authorization header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8926068" y="2011680"/>
            <a:ext cx="768096" cy="768096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892606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Shape 33"/>
          <p:cNvSpPr/>
          <p:nvPr/>
        </p:nvSpPr>
        <p:spPr>
          <a:xfrm>
            <a:off x="8587740" y="2971800"/>
            <a:ext cx="1444752" cy="1188720"/>
          </a:xfrm>
          <a:prstGeom prst="roundRect">
            <a:avLst>
              <a:gd name="adj" fmla="val 7692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8660892" y="30906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verified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8660892" y="352958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Signature, expiry &amp; role checked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10533888" y="2011680"/>
            <a:ext cx="768096" cy="768096"/>
          </a:xfrm>
          <a:prstGeom prst="ellipse">
            <a:avLst/>
          </a:prstGeom>
          <a:solidFill>
            <a:srgbClr val="26C281"/>
          </a:solidFill>
          <a:ln w="381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1053388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41" name="Shape 38"/>
          <p:cNvSpPr/>
          <p:nvPr/>
        </p:nvSpPr>
        <p:spPr>
          <a:xfrm>
            <a:off x="10195560" y="2971800"/>
            <a:ext cx="1444752" cy="1188720"/>
          </a:xfrm>
          <a:prstGeom prst="roundRect">
            <a:avLst>
              <a:gd name="adj" fmla="val 7692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10268712" y="30906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granted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10268712" y="352958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response returned</a:t>
            </a:r>
            <a:endParaRPr lang="en-US" sz="930" dirty="0"/>
          </a:p>
        </p:txBody>
      </p:sp>
      <p:sp>
        <p:nvSpPr>
          <p:cNvPr id="44" name="Shape 41"/>
          <p:cNvSpPr/>
          <p:nvPr/>
        </p:nvSpPr>
        <p:spPr>
          <a:xfrm>
            <a:off x="548640" y="4846320"/>
            <a:ext cx="3529584" cy="1078992"/>
          </a:xfrm>
          <a:prstGeom prst="roundRect">
            <a:avLst>
              <a:gd name="adj" fmla="val 8475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749808" y="51206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268773"/>
            <a:ext cx="252374" cy="252374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1417320" y="504748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50" dirty="0"/>
          </a:p>
        </p:txBody>
      </p:sp>
      <p:sp>
        <p:nvSpPr>
          <p:cNvPr id="48" name="Text 44"/>
          <p:cNvSpPr/>
          <p:nvPr/>
        </p:nvSpPr>
        <p:spPr>
          <a:xfrm>
            <a:off x="1417320" y="535838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in plaintext.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4261104" y="4846320"/>
            <a:ext cx="3529584" cy="1078992"/>
          </a:xfrm>
          <a:prstGeom prst="roundRect">
            <a:avLst>
              <a:gd name="adj" fmla="val 8475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6"/>
          <p:cNvSpPr/>
          <p:nvPr/>
        </p:nvSpPr>
        <p:spPr>
          <a:xfrm>
            <a:off x="4462272" y="51206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5" y="5268773"/>
            <a:ext cx="252374" cy="252374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5129784" y="504748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JWT secret</a:t>
            </a:r>
            <a:endParaRPr lang="en-US" sz="1250" dirty="0"/>
          </a:p>
        </p:txBody>
      </p:sp>
      <p:sp>
        <p:nvSpPr>
          <p:cNvPr id="53" name="Text 48"/>
          <p:cNvSpPr/>
          <p:nvPr/>
        </p:nvSpPr>
        <p:spPr>
          <a:xfrm>
            <a:off x="5129784" y="535838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secret lives only in backend env vars.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7973568" y="4846320"/>
            <a:ext cx="3529584" cy="1078992"/>
          </a:xfrm>
          <a:prstGeom prst="roundRect">
            <a:avLst>
              <a:gd name="adj" fmla="val 8475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0"/>
          <p:cNvSpPr/>
          <p:nvPr/>
        </p:nvSpPr>
        <p:spPr>
          <a:xfrm>
            <a:off x="8174736" y="51206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2869" y="5268773"/>
            <a:ext cx="252374" cy="252374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8842248" y="504748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(RBAC)</a:t>
            </a:r>
            <a:endParaRPr lang="en-US" sz="1250" dirty="0"/>
          </a:p>
        </p:txBody>
      </p:sp>
      <p:sp>
        <p:nvSpPr>
          <p:cNvPr id="58" name="Text 52"/>
          <p:cNvSpPr/>
          <p:nvPr/>
        </p:nvSpPr>
        <p:spPr>
          <a:xfrm>
            <a:off x="8842248" y="535838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routes require an admin role  else 403.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Image 0" descr="preencoded.png">
            <a:extLst>
              <a:ext uri="{FF2B5EF4-FFF2-40B4-BE49-F238E27FC236}">
                <a16:creationId xmlns:a16="http://schemas.microsoft.com/office/drawing/2014/main" id="{71B85BD0-7472-8D0D-0A6B-D4AA8D259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25196"/>
            <a:ext cx="109728" cy="109728"/>
          </a:xfrm>
          <a:prstGeom prst="rect">
            <a:avLst/>
          </a:prstGeom>
        </p:spPr>
      </p:pic>
      <p:sp>
        <p:nvSpPr>
          <p:cNvPr id="97" name="Text 0">
            <a:extLst>
              <a:ext uri="{FF2B5EF4-FFF2-40B4-BE49-F238E27FC236}">
                <a16:creationId xmlns:a16="http://schemas.microsoft.com/office/drawing/2014/main" id="{D2323576-3CDF-C4A3-D6D6-AC9863A4DCAB}"/>
              </a:ext>
            </a:extLst>
          </p:cNvPr>
          <p:cNvSpPr/>
          <p:nvPr/>
        </p:nvSpPr>
        <p:spPr>
          <a:xfrm>
            <a:off x="10021824" y="329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25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250" dirty="0"/>
          </a:p>
        </p:txBody>
      </p:sp>
      <p:sp>
        <p:nvSpPr>
          <p:cNvPr id="98" name="Text 1">
            <a:extLst>
              <a:ext uri="{FF2B5EF4-FFF2-40B4-BE49-F238E27FC236}">
                <a16:creationId xmlns:a16="http://schemas.microsoft.com/office/drawing/2014/main" id="{5E8C1AD6-6E94-35B9-85C7-CDAAF0030F1B}"/>
              </a:ext>
            </a:extLst>
          </p:cNvPr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 ·  A Full Stack Trading Platform</a:t>
            </a:r>
            <a:endParaRPr lang="en-US" sz="900" dirty="0"/>
          </a:p>
        </p:txBody>
      </p:sp>
      <p:sp>
        <p:nvSpPr>
          <p:cNvPr id="99" name="Text 2">
            <a:extLst>
              <a:ext uri="{FF2B5EF4-FFF2-40B4-BE49-F238E27FC236}">
                <a16:creationId xmlns:a16="http://schemas.microsoft.com/office/drawing/2014/main" id="{FC545821-79B5-E583-9067-1E6EB0BBD2B1}"/>
              </a:ext>
            </a:extLst>
          </p:cNvPr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00" name="Text 3">
            <a:extLst>
              <a:ext uri="{FF2B5EF4-FFF2-40B4-BE49-F238E27FC236}">
                <a16:creationId xmlns:a16="http://schemas.microsoft.com/office/drawing/2014/main" id="{B6E8B30B-CF3F-78D6-BFF8-F1CB5A7AFE17}"/>
              </a:ext>
            </a:extLst>
          </p:cNvPr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·  INTEGRATION</a:t>
            </a:r>
            <a:endParaRPr lang="en-US" sz="1200" dirty="0"/>
          </a:p>
        </p:txBody>
      </p:sp>
      <p:sp>
        <p:nvSpPr>
          <p:cNvPr id="101" name="Text 4">
            <a:extLst>
              <a:ext uri="{FF2B5EF4-FFF2-40B4-BE49-F238E27FC236}">
                <a16:creationId xmlns:a16="http://schemas.microsoft.com/office/drawing/2014/main" id="{0D49CF62-9D6C-3DE5-F905-B1641FAF515E}"/>
              </a:ext>
            </a:extLst>
          </p:cNvPr>
          <p:cNvSpPr/>
          <p:nvPr/>
        </p:nvSpPr>
        <p:spPr>
          <a:xfrm>
            <a:off x="548640" y="731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Upstox API Integration</a:t>
            </a:r>
            <a:endParaRPr lang="en-US" sz="3000" dirty="0"/>
          </a:p>
        </p:txBody>
      </p:sp>
      <p:sp>
        <p:nvSpPr>
          <p:cNvPr id="102" name="Text 5">
            <a:extLst>
              <a:ext uri="{FF2B5EF4-FFF2-40B4-BE49-F238E27FC236}">
                <a16:creationId xmlns:a16="http://schemas.microsoft.com/office/drawing/2014/main" id="{CFD2D404-6A49-42F4-D62D-3AFC6772837D}"/>
              </a:ext>
            </a:extLst>
          </p:cNvPr>
          <p:cNvSpPr/>
          <p:nvPr/>
        </p:nvSpPr>
        <p:spPr>
          <a:xfrm>
            <a:off x="548640" y="16276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integrates with the Upstox API to retrieve real-time stock information  powering search, quotes, market overview and detailed price data throughout the trading dashboard.</a:t>
            </a:r>
            <a:endParaRPr lang="en-US" sz="1350" dirty="0"/>
          </a:p>
        </p:txBody>
      </p:sp>
      <p:sp>
        <p:nvSpPr>
          <p:cNvPr id="103" name="Shape 6">
            <a:extLst>
              <a:ext uri="{FF2B5EF4-FFF2-40B4-BE49-F238E27FC236}">
                <a16:creationId xmlns:a16="http://schemas.microsoft.com/office/drawing/2014/main" id="{B500761D-5324-7D8C-083C-650D9248BFBC}"/>
              </a:ext>
            </a:extLst>
          </p:cNvPr>
          <p:cNvSpPr/>
          <p:nvPr/>
        </p:nvSpPr>
        <p:spPr>
          <a:xfrm>
            <a:off x="548640" y="251460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41C30"/>
          </a:solidFill>
          <a:ln w="1778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" name="Shape 7">
            <a:extLst>
              <a:ext uri="{FF2B5EF4-FFF2-40B4-BE49-F238E27FC236}">
                <a16:creationId xmlns:a16="http://schemas.microsoft.com/office/drawing/2014/main" id="{4B7CF91F-DB14-15C2-6534-BF10CD9B3234}"/>
              </a:ext>
            </a:extLst>
          </p:cNvPr>
          <p:cNvSpPr/>
          <p:nvPr/>
        </p:nvSpPr>
        <p:spPr>
          <a:xfrm>
            <a:off x="768096" y="269748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5" name="Image 1" descr="preencoded.png">
            <a:extLst>
              <a:ext uri="{FF2B5EF4-FFF2-40B4-BE49-F238E27FC236}">
                <a16:creationId xmlns:a16="http://schemas.microsoft.com/office/drawing/2014/main" id="{0865802A-932E-ED4A-55F5-BFD14D5EB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16" y="2830800"/>
            <a:ext cx="227137" cy="227137"/>
          </a:xfrm>
          <a:prstGeom prst="rect">
            <a:avLst/>
          </a:prstGeom>
        </p:spPr>
      </p:pic>
      <p:sp>
        <p:nvSpPr>
          <p:cNvPr id="106" name="Text 8">
            <a:extLst>
              <a:ext uri="{FF2B5EF4-FFF2-40B4-BE49-F238E27FC236}">
                <a16:creationId xmlns:a16="http://schemas.microsoft.com/office/drawing/2014/main" id="{D8F6FB81-5434-A432-879C-1718310C6D8C}"/>
              </a:ext>
            </a:extLst>
          </p:cNvPr>
          <p:cNvSpPr/>
          <p:nvPr/>
        </p:nvSpPr>
        <p:spPr>
          <a:xfrm>
            <a:off x="768096" y="32644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request</a:t>
            </a:r>
            <a:endParaRPr lang="en-US" sz="1300" dirty="0"/>
          </a:p>
        </p:txBody>
      </p:sp>
      <p:sp>
        <p:nvSpPr>
          <p:cNvPr id="107" name="Text 9">
            <a:extLst>
              <a:ext uri="{FF2B5EF4-FFF2-40B4-BE49-F238E27FC236}">
                <a16:creationId xmlns:a16="http://schemas.microsoft.com/office/drawing/2014/main" id="{04341F44-DE6E-D144-B350-67DCDCB3AE0D}"/>
              </a:ext>
            </a:extLst>
          </p:cNvPr>
          <p:cNvSpPr/>
          <p:nvPr/>
        </p:nvSpPr>
        <p:spPr>
          <a:xfrm>
            <a:off x="768096" y="35387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searches a stock or loads market data.</a:t>
            </a:r>
            <a:endParaRPr lang="en-US" sz="1000" dirty="0"/>
          </a:p>
        </p:txBody>
      </p:sp>
      <p:sp>
        <p:nvSpPr>
          <p:cNvPr id="108" name="Shape 10">
            <a:extLst>
              <a:ext uri="{FF2B5EF4-FFF2-40B4-BE49-F238E27FC236}">
                <a16:creationId xmlns:a16="http://schemas.microsoft.com/office/drawing/2014/main" id="{B28C6D1F-A149-8E8C-EA19-45DB8287D417}"/>
              </a:ext>
            </a:extLst>
          </p:cNvPr>
          <p:cNvSpPr/>
          <p:nvPr/>
        </p:nvSpPr>
        <p:spPr>
          <a:xfrm>
            <a:off x="3054096" y="3246120"/>
            <a:ext cx="338328" cy="0"/>
          </a:xfrm>
          <a:prstGeom prst="line">
            <a:avLst/>
          </a:prstGeom>
          <a:noFill/>
          <a:ln w="25400">
            <a:solidFill>
              <a:srgbClr val="65739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9" name="Shape 11">
            <a:extLst>
              <a:ext uri="{FF2B5EF4-FFF2-40B4-BE49-F238E27FC236}">
                <a16:creationId xmlns:a16="http://schemas.microsoft.com/office/drawing/2014/main" id="{1198B363-D4A0-0452-CE49-0AB765B4E5FA}"/>
              </a:ext>
            </a:extLst>
          </p:cNvPr>
          <p:cNvSpPr/>
          <p:nvPr/>
        </p:nvSpPr>
        <p:spPr>
          <a:xfrm>
            <a:off x="3429000" y="251460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41C30"/>
          </a:solidFill>
          <a:ln w="1778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0" name="Shape 12">
            <a:extLst>
              <a:ext uri="{FF2B5EF4-FFF2-40B4-BE49-F238E27FC236}">
                <a16:creationId xmlns:a16="http://schemas.microsoft.com/office/drawing/2014/main" id="{EB61D30C-34B1-D5DA-4742-871C4A9EF5ED}"/>
              </a:ext>
            </a:extLst>
          </p:cNvPr>
          <p:cNvSpPr/>
          <p:nvPr/>
        </p:nvSpPr>
        <p:spPr>
          <a:xfrm>
            <a:off x="3648456" y="269748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1" name="Image 2" descr="preencoded.png">
            <a:extLst>
              <a:ext uri="{FF2B5EF4-FFF2-40B4-BE49-F238E27FC236}">
                <a16:creationId xmlns:a16="http://schemas.microsoft.com/office/drawing/2014/main" id="{ED152E47-4B6E-9454-0C1C-CCF73D7E28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776" y="2830800"/>
            <a:ext cx="227137" cy="227137"/>
          </a:xfrm>
          <a:prstGeom prst="rect">
            <a:avLst/>
          </a:prstGeom>
        </p:spPr>
      </p:pic>
      <p:sp>
        <p:nvSpPr>
          <p:cNvPr id="112" name="Text 13">
            <a:extLst>
              <a:ext uri="{FF2B5EF4-FFF2-40B4-BE49-F238E27FC236}">
                <a16:creationId xmlns:a16="http://schemas.microsoft.com/office/drawing/2014/main" id="{8CBBE36F-3AA1-1755-59AB-1C1665B33743}"/>
              </a:ext>
            </a:extLst>
          </p:cNvPr>
          <p:cNvSpPr/>
          <p:nvPr/>
        </p:nvSpPr>
        <p:spPr>
          <a:xfrm>
            <a:off x="3648456" y="32644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13" name="Text 14">
            <a:extLst>
              <a:ext uri="{FF2B5EF4-FFF2-40B4-BE49-F238E27FC236}">
                <a16:creationId xmlns:a16="http://schemas.microsoft.com/office/drawing/2014/main" id="{16928390-8FC9-E74A-EB4B-2A2B2B1F502F}"/>
              </a:ext>
            </a:extLst>
          </p:cNvPr>
          <p:cNvSpPr/>
          <p:nvPr/>
        </p:nvSpPr>
        <p:spPr>
          <a:xfrm>
            <a:off x="3648456" y="35387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&amp; routes the market-data request.</a:t>
            </a:r>
            <a:endParaRPr lang="en-US" sz="1000" dirty="0"/>
          </a:p>
        </p:txBody>
      </p:sp>
      <p:sp>
        <p:nvSpPr>
          <p:cNvPr id="114" name="Shape 15">
            <a:extLst>
              <a:ext uri="{FF2B5EF4-FFF2-40B4-BE49-F238E27FC236}">
                <a16:creationId xmlns:a16="http://schemas.microsoft.com/office/drawing/2014/main" id="{47542F52-9F4A-675C-A1CD-7906F7C4F1B8}"/>
              </a:ext>
            </a:extLst>
          </p:cNvPr>
          <p:cNvSpPr/>
          <p:nvPr/>
        </p:nvSpPr>
        <p:spPr>
          <a:xfrm>
            <a:off x="5934456" y="3246120"/>
            <a:ext cx="338328" cy="0"/>
          </a:xfrm>
          <a:prstGeom prst="line">
            <a:avLst/>
          </a:prstGeom>
          <a:noFill/>
          <a:ln w="25400">
            <a:solidFill>
              <a:srgbClr val="65739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6">
            <a:extLst>
              <a:ext uri="{FF2B5EF4-FFF2-40B4-BE49-F238E27FC236}">
                <a16:creationId xmlns:a16="http://schemas.microsoft.com/office/drawing/2014/main" id="{37CB540F-8B37-AC77-34D0-032C9A61D4F7}"/>
              </a:ext>
            </a:extLst>
          </p:cNvPr>
          <p:cNvSpPr/>
          <p:nvPr/>
        </p:nvSpPr>
        <p:spPr>
          <a:xfrm>
            <a:off x="6309360" y="251460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E3A6E"/>
          </a:solidFill>
          <a:ln w="17780">
            <a:solidFill>
              <a:srgbClr val="3B82F6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6" name="Shape 17">
            <a:extLst>
              <a:ext uri="{FF2B5EF4-FFF2-40B4-BE49-F238E27FC236}">
                <a16:creationId xmlns:a16="http://schemas.microsoft.com/office/drawing/2014/main" id="{56D18285-1AA8-C84A-C807-09D46773C09F}"/>
              </a:ext>
            </a:extLst>
          </p:cNvPr>
          <p:cNvSpPr/>
          <p:nvPr/>
        </p:nvSpPr>
        <p:spPr>
          <a:xfrm>
            <a:off x="6528816" y="269748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7" name="Image 3" descr="preencoded.png">
            <a:extLst>
              <a:ext uri="{FF2B5EF4-FFF2-40B4-BE49-F238E27FC236}">
                <a16:creationId xmlns:a16="http://schemas.microsoft.com/office/drawing/2014/main" id="{B5509C89-2A39-9A68-7AE5-8ABAE95458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136" y="2830800"/>
            <a:ext cx="227137" cy="227137"/>
          </a:xfrm>
          <a:prstGeom prst="rect">
            <a:avLst/>
          </a:prstGeom>
        </p:spPr>
      </p:pic>
      <p:sp>
        <p:nvSpPr>
          <p:cNvPr id="118" name="Text 18">
            <a:extLst>
              <a:ext uri="{FF2B5EF4-FFF2-40B4-BE49-F238E27FC236}">
                <a16:creationId xmlns:a16="http://schemas.microsoft.com/office/drawing/2014/main" id="{74C30895-5CCD-DFA3-B026-B54523B47077}"/>
              </a:ext>
            </a:extLst>
          </p:cNvPr>
          <p:cNvSpPr/>
          <p:nvPr/>
        </p:nvSpPr>
        <p:spPr>
          <a:xfrm>
            <a:off x="6528816" y="32644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Upstox API</a:t>
            </a:r>
            <a:endParaRPr lang="en-US" sz="1300" dirty="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8ADE6F96-DFC0-761C-E04B-3C99D8EEB9BC}"/>
              </a:ext>
            </a:extLst>
          </p:cNvPr>
          <p:cNvSpPr/>
          <p:nvPr/>
        </p:nvSpPr>
        <p:spPr>
          <a:xfrm>
            <a:off x="6528816" y="35387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live quotes via bearer-token auth.</a:t>
            </a:r>
            <a:endParaRPr lang="en-US" sz="1000" dirty="0"/>
          </a:p>
        </p:txBody>
      </p:sp>
      <p:sp>
        <p:nvSpPr>
          <p:cNvPr id="120" name="Shape 20">
            <a:extLst>
              <a:ext uri="{FF2B5EF4-FFF2-40B4-BE49-F238E27FC236}">
                <a16:creationId xmlns:a16="http://schemas.microsoft.com/office/drawing/2014/main" id="{A94D400E-330D-D232-9A4F-C15445B06AF6}"/>
              </a:ext>
            </a:extLst>
          </p:cNvPr>
          <p:cNvSpPr/>
          <p:nvPr/>
        </p:nvSpPr>
        <p:spPr>
          <a:xfrm>
            <a:off x="8814816" y="3246120"/>
            <a:ext cx="338328" cy="0"/>
          </a:xfrm>
          <a:prstGeom prst="line">
            <a:avLst/>
          </a:prstGeom>
          <a:noFill/>
          <a:ln w="25400">
            <a:solidFill>
              <a:srgbClr val="65739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hape 21">
            <a:extLst>
              <a:ext uri="{FF2B5EF4-FFF2-40B4-BE49-F238E27FC236}">
                <a16:creationId xmlns:a16="http://schemas.microsoft.com/office/drawing/2014/main" id="{879CDCCD-E980-E64B-5023-F46239410D8B}"/>
              </a:ext>
            </a:extLst>
          </p:cNvPr>
          <p:cNvSpPr/>
          <p:nvPr/>
        </p:nvSpPr>
        <p:spPr>
          <a:xfrm>
            <a:off x="9189720" y="251460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23A2E"/>
          </a:solidFill>
          <a:ln w="17780">
            <a:solidFill>
              <a:srgbClr val="26C281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2" name="Shape 22">
            <a:extLst>
              <a:ext uri="{FF2B5EF4-FFF2-40B4-BE49-F238E27FC236}">
                <a16:creationId xmlns:a16="http://schemas.microsoft.com/office/drawing/2014/main" id="{FD8F89B4-6BB0-AA85-442C-8742CD34A93D}"/>
              </a:ext>
            </a:extLst>
          </p:cNvPr>
          <p:cNvSpPr/>
          <p:nvPr/>
        </p:nvSpPr>
        <p:spPr>
          <a:xfrm>
            <a:off x="9409176" y="269748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3" name="Image 4" descr="preencoded.png">
            <a:extLst>
              <a:ext uri="{FF2B5EF4-FFF2-40B4-BE49-F238E27FC236}">
                <a16:creationId xmlns:a16="http://schemas.microsoft.com/office/drawing/2014/main" id="{B6E02A81-032E-F6FC-03FE-2E2C7D649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2496" y="2830800"/>
            <a:ext cx="227137" cy="227137"/>
          </a:xfrm>
          <a:prstGeom prst="rect">
            <a:avLst/>
          </a:prstGeom>
        </p:spPr>
      </p:pic>
      <p:sp>
        <p:nvSpPr>
          <p:cNvPr id="124" name="Text 23">
            <a:extLst>
              <a:ext uri="{FF2B5EF4-FFF2-40B4-BE49-F238E27FC236}">
                <a16:creationId xmlns:a16="http://schemas.microsoft.com/office/drawing/2014/main" id="{B5D2883E-A25B-7493-27B3-0BBCCAEDF4F8}"/>
              </a:ext>
            </a:extLst>
          </p:cNvPr>
          <p:cNvSpPr/>
          <p:nvPr/>
        </p:nvSpPr>
        <p:spPr>
          <a:xfrm>
            <a:off x="9409176" y="32644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data</a:t>
            </a:r>
            <a:endParaRPr lang="en-US" sz="1300" dirty="0"/>
          </a:p>
        </p:txBody>
      </p:sp>
      <p:sp>
        <p:nvSpPr>
          <p:cNvPr id="125" name="Text 24">
            <a:extLst>
              <a:ext uri="{FF2B5EF4-FFF2-40B4-BE49-F238E27FC236}">
                <a16:creationId xmlns:a16="http://schemas.microsoft.com/office/drawing/2014/main" id="{6ED78BC4-4076-01E8-1DF7-0DC44FDCED10}"/>
              </a:ext>
            </a:extLst>
          </p:cNvPr>
          <p:cNvSpPr/>
          <p:nvPr/>
        </p:nvSpPr>
        <p:spPr>
          <a:xfrm>
            <a:off x="9409176" y="35387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rendered on the dashboard.</a:t>
            </a:r>
            <a:endParaRPr lang="en-US" sz="1000" dirty="0"/>
          </a:p>
        </p:txBody>
      </p:sp>
      <p:sp>
        <p:nvSpPr>
          <p:cNvPr id="126" name="Text 25">
            <a:extLst>
              <a:ext uri="{FF2B5EF4-FFF2-40B4-BE49-F238E27FC236}">
                <a16:creationId xmlns:a16="http://schemas.microsoft.com/office/drawing/2014/main" id="{E47A5295-8302-D688-19D6-1E301234069A}"/>
              </a:ext>
            </a:extLst>
          </p:cNvPr>
          <p:cNvSpPr/>
          <p:nvPr/>
        </p:nvSpPr>
        <p:spPr>
          <a:xfrm>
            <a:off x="54864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UPSTOX API POWERS</a:t>
            </a:r>
            <a:endParaRPr lang="en-US" sz="1100" dirty="0"/>
          </a:p>
        </p:txBody>
      </p:sp>
      <p:sp>
        <p:nvSpPr>
          <p:cNvPr id="127" name="Shape 26">
            <a:extLst>
              <a:ext uri="{FF2B5EF4-FFF2-40B4-BE49-F238E27FC236}">
                <a16:creationId xmlns:a16="http://schemas.microsoft.com/office/drawing/2014/main" id="{B0FBCEA0-92B8-C40A-10E4-F588C91428A5}"/>
              </a:ext>
            </a:extLst>
          </p:cNvPr>
          <p:cNvSpPr/>
          <p:nvPr/>
        </p:nvSpPr>
        <p:spPr>
          <a:xfrm>
            <a:off x="548640" y="4681728"/>
            <a:ext cx="2635758" cy="1024128"/>
          </a:xfrm>
          <a:prstGeom prst="roundRect">
            <a:avLst>
              <a:gd name="adj" fmla="val 8929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8" name="Shape 27">
            <a:extLst>
              <a:ext uri="{FF2B5EF4-FFF2-40B4-BE49-F238E27FC236}">
                <a16:creationId xmlns:a16="http://schemas.microsoft.com/office/drawing/2014/main" id="{66E6DDA9-A09F-D2E7-005D-7910D847189E}"/>
              </a:ext>
            </a:extLst>
          </p:cNvPr>
          <p:cNvSpPr/>
          <p:nvPr/>
        </p:nvSpPr>
        <p:spPr>
          <a:xfrm>
            <a:off x="731520" y="495604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9" name="Image 5" descr="preencoded.png">
            <a:extLst>
              <a:ext uri="{FF2B5EF4-FFF2-40B4-BE49-F238E27FC236}">
                <a16:creationId xmlns:a16="http://schemas.microsoft.com/office/drawing/2014/main" id="{429839B4-0B95-72E6-DCF3-EB9314F508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777" y="5094305"/>
            <a:ext cx="235549" cy="235549"/>
          </a:xfrm>
          <a:prstGeom prst="rect">
            <a:avLst/>
          </a:prstGeom>
        </p:spPr>
      </p:pic>
      <p:sp>
        <p:nvSpPr>
          <p:cNvPr id="130" name="Text 28">
            <a:extLst>
              <a:ext uri="{FF2B5EF4-FFF2-40B4-BE49-F238E27FC236}">
                <a16:creationId xmlns:a16="http://schemas.microsoft.com/office/drawing/2014/main" id="{2D8E0829-A772-D476-FBEA-45282723CE26}"/>
              </a:ext>
            </a:extLst>
          </p:cNvPr>
          <p:cNvSpPr/>
          <p:nvPr/>
        </p:nvSpPr>
        <p:spPr>
          <a:xfrm>
            <a:off x="1335024" y="4901184"/>
            <a:ext cx="1721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search</a:t>
            </a:r>
            <a:endParaRPr lang="en-US" sz="1300" dirty="0"/>
          </a:p>
        </p:txBody>
      </p:sp>
      <p:sp>
        <p:nvSpPr>
          <p:cNvPr id="131" name="Text 29">
            <a:extLst>
              <a:ext uri="{FF2B5EF4-FFF2-40B4-BE49-F238E27FC236}">
                <a16:creationId xmlns:a16="http://schemas.microsoft.com/office/drawing/2014/main" id="{C354E6BB-EF73-6732-69E9-CEE246ECFF73}"/>
              </a:ext>
            </a:extLst>
          </p:cNvPr>
          <p:cNvSpPr/>
          <p:nvPr/>
        </p:nvSpPr>
        <p:spPr>
          <a:xfrm>
            <a:off x="1335024" y="5193792"/>
            <a:ext cx="1721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symbol or company name</a:t>
            </a:r>
            <a:endParaRPr lang="en-US" sz="980" dirty="0"/>
          </a:p>
        </p:txBody>
      </p:sp>
      <p:sp>
        <p:nvSpPr>
          <p:cNvPr id="132" name="Shape 30">
            <a:extLst>
              <a:ext uri="{FF2B5EF4-FFF2-40B4-BE49-F238E27FC236}">
                <a16:creationId xmlns:a16="http://schemas.microsoft.com/office/drawing/2014/main" id="{B1210B16-3EAD-0389-DE30-446202A912D3}"/>
              </a:ext>
            </a:extLst>
          </p:cNvPr>
          <p:cNvSpPr/>
          <p:nvPr/>
        </p:nvSpPr>
        <p:spPr>
          <a:xfrm>
            <a:off x="3367278" y="4681728"/>
            <a:ext cx="2635758" cy="1024128"/>
          </a:xfrm>
          <a:prstGeom prst="roundRect">
            <a:avLst>
              <a:gd name="adj" fmla="val 8929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3" name="Shape 31">
            <a:extLst>
              <a:ext uri="{FF2B5EF4-FFF2-40B4-BE49-F238E27FC236}">
                <a16:creationId xmlns:a16="http://schemas.microsoft.com/office/drawing/2014/main" id="{B137C8EA-84C7-878A-D2EA-AECF96A13916}"/>
              </a:ext>
            </a:extLst>
          </p:cNvPr>
          <p:cNvSpPr/>
          <p:nvPr/>
        </p:nvSpPr>
        <p:spPr>
          <a:xfrm>
            <a:off x="3550158" y="495604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4" name="Image 6" descr="preencoded.png">
            <a:extLst>
              <a:ext uri="{FF2B5EF4-FFF2-40B4-BE49-F238E27FC236}">
                <a16:creationId xmlns:a16="http://schemas.microsoft.com/office/drawing/2014/main" id="{8AD6C10E-1443-E84D-E49C-62C379874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415" y="5094305"/>
            <a:ext cx="235549" cy="235549"/>
          </a:xfrm>
          <a:prstGeom prst="rect">
            <a:avLst/>
          </a:prstGeom>
        </p:spPr>
      </p:pic>
      <p:sp>
        <p:nvSpPr>
          <p:cNvPr id="135" name="Text 32">
            <a:extLst>
              <a:ext uri="{FF2B5EF4-FFF2-40B4-BE49-F238E27FC236}">
                <a16:creationId xmlns:a16="http://schemas.microsoft.com/office/drawing/2014/main" id="{AF6D1374-B808-4CE6-BB02-6AA4C3F29034}"/>
              </a:ext>
            </a:extLst>
          </p:cNvPr>
          <p:cNvSpPr/>
          <p:nvPr/>
        </p:nvSpPr>
        <p:spPr>
          <a:xfrm>
            <a:off x="4153662" y="4901184"/>
            <a:ext cx="1721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quotes</a:t>
            </a:r>
            <a:endParaRPr lang="en-US" sz="1300" dirty="0"/>
          </a:p>
        </p:txBody>
      </p:sp>
      <p:sp>
        <p:nvSpPr>
          <p:cNvPr id="136" name="Text 33">
            <a:extLst>
              <a:ext uri="{FF2B5EF4-FFF2-40B4-BE49-F238E27FC236}">
                <a16:creationId xmlns:a16="http://schemas.microsoft.com/office/drawing/2014/main" id="{DE323D17-8891-406D-507D-8AE79CF6D2E6}"/>
              </a:ext>
            </a:extLst>
          </p:cNvPr>
          <p:cNvSpPr/>
          <p:nvPr/>
        </p:nvSpPr>
        <p:spPr>
          <a:xfrm>
            <a:off x="4153662" y="5193792"/>
            <a:ext cx="1721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 &amp; day change</a:t>
            </a:r>
            <a:endParaRPr lang="en-US" sz="980" dirty="0"/>
          </a:p>
        </p:txBody>
      </p:sp>
      <p:sp>
        <p:nvSpPr>
          <p:cNvPr id="137" name="Shape 34">
            <a:extLst>
              <a:ext uri="{FF2B5EF4-FFF2-40B4-BE49-F238E27FC236}">
                <a16:creationId xmlns:a16="http://schemas.microsoft.com/office/drawing/2014/main" id="{F712C66D-C631-FB3C-389D-8697D6C2406C}"/>
              </a:ext>
            </a:extLst>
          </p:cNvPr>
          <p:cNvSpPr/>
          <p:nvPr/>
        </p:nvSpPr>
        <p:spPr>
          <a:xfrm>
            <a:off x="6185916" y="4681728"/>
            <a:ext cx="2635758" cy="1024128"/>
          </a:xfrm>
          <a:prstGeom prst="roundRect">
            <a:avLst>
              <a:gd name="adj" fmla="val 8929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8" name="Shape 35">
            <a:extLst>
              <a:ext uri="{FF2B5EF4-FFF2-40B4-BE49-F238E27FC236}">
                <a16:creationId xmlns:a16="http://schemas.microsoft.com/office/drawing/2014/main" id="{DA81569E-830F-4079-33DB-FCBFB5AD1BF4}"/>
              </a:ext>
            </a:extLst>
          </p:cNvPr>
          <p:cNvSpPr/>
          <p:nvPr/>
        </p:nvSpPr>
        <p:spPr>
          <a:xfrm>
            <a:off x="6368796" y="495604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9" name="Image 7" descr="preencoded.png">
            <a:extLst>
              <a:ext uri="{FF2B5EF4-FFF2-40B4-BE49-F238E27FC236}">
                <a16:creationId xmlns:a16="http://schemas.microsoft.com/office/drawing/2014/main" id="{DCCDDEA4-7A98-A2D1-A38E-03ED85B61D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7053" y="5094305"/>
            <a:ext cx="235549" cy="235549"/>
          </a:xfrm>
          <a:prstGeom prst="rect">
            <a:avLst/>
          </a:prstGeom>
        </p:spPr>
      </p:pic>
      <p:sp>
        <p:nvSpPr>
          <p:cNvPr id="140" name="Text 36">
            <a:extLst>
              <a:ext uri="{FF2B5EF4-FFF2-40B4-BE49-F238E27FC236}">
                <a16:creationId xmlns:a16="http://schemas.microsoft.com/office/drawing/2014/main" id="{DA86DD61-8256-EE4F-09B9-2402731D0D8C}"/>
              </a:ext>
            </a:extLst>
          </p:cNvPr>
          <p:cNvSpPr/>
          <p:nvPr/>
        </p:nvSpPr>
        <p:spPr>
          <a:xfrm>
            <a:off x="6972300" y="4901184"/>
            <a:ext cx="1721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</a:t>
            </a:r>
            <a:endParaRPr lang="en-US" sz="1300" dirty="0"/>
          </a:p>
        </p:txBody>
      </p:sp>
      <p:sp>
        <p:nvSpPr>
          <p:cNvPr id="141" name="Text 37">
            <a:extLst>
              <a:ext uri="{FF2B5EF4-FFF2-40B4-BE49-F238E27FC236}">
                <a16:creationId xmlns:a16="http://schemas.microsoft.com/office/drawing/2014/main" id="{5F195A5E-9059-C30F-3A0E-144F94F7D31F}"/>
              </a:ext>
            </a:extLst>
          </p:cNvPr>
          <p:cNvSpPr/>
          <p:nvPr/>
        </p:nvSpPr>
        <p:spPr>
          <a:xfrm>
            <a:off x="6972300" y="5193792"/>
            <a:ext cx="1721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Gainers, losers &amp; indices</a:t>
            </a:r>
            <a:endParaRPr lang="en-US" sz="980" dirty="0"/>
          </a:p>
        </p:txBody>
      </p:sp>
      <p:sp>
        <p:nvSpPr>
          <p:cNvPr id="142" name="Shape 38">
            <a:extLst>
              <a:ext uri="{FF2B5EF4-FFF2-40B4-BE49-F238E27FC236}">
                <a16:creationId xmlns:a16="http://schemas.microsoft.com/office/drawing/2014/main" id="{1A561B84-1BFC-A660-C498-DAE0F4E2711D}"/>
              </a:ext>
            </a:extLst>
          </p:cNvPr>
          <p:cNvSpPr/>
          <p:nvPr/>
        </p:nvSpPr>
        <p:spPr>
          <a:xfrm>
            <a:off x="9004554" y="4681728"/>
            <a:ext cx="2635758" cy="1024128"/>
          </a:xfrm>
          <a:prstGeom prst="roundRect">
            <a:avLst>
              <a:gd name="adj" fmla="val 8929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3" name="Shape 39">
            <a:extLst>
              <a:ext uri="{FF2B5EF4-FFF2-40B4-BE49-F238E27FC236}">
                <a16:creationId xmlns:a16="http://schemas.microsoft.com/office/drawing/2014/main" id="{F88460E1-D830-4DFE-ADFF-4E9FF3A90BA0}"/>
              </a:ext>
            </a:extLst>
          </p:cNvPr>
          <p:cNvSpPr/>
          <p:nvPr/>
        </p:nvSpPr>
        <p:spPr>
          <a:xfrm>
            <a:off x="9187434" y="495604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4" name="Image 8" descr="preencoded.png">
            <a:extLst>
              <a:ext uri="{FF2B5EF4-FFF2-40B4-BE49-F238E27FC236}">
                <a16:creationId xmlns:a16="http://schemas.microsoft.com/office/drawing/2014/main" id="{12FACF1A-DB4B-9CC8-52FA-E34AB2A8AE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5691" y="5094305"/>
            <a:ext cx="235549" cy="235549"/>
          </a:xfrm>
          <a:prstGeom prst="rect">
            <a:avLst/>
          </a:prstGeom>
        </p:spPr>
      </p:pic>
      <p:sp>
        <p:nvSpPr>
          <p:cNvPr id="145" name="Text 40">
            <a:extLst>
              <a:ext uri="{FF2B5EF4-FFF2-40B4-BE49-F238E27FC236}">
                <a16:creationId xmlns:a16="http://schemas.microsoft.com/office/drawing/2014/main" id="{45DA6D59-490A-C5D9-19AC-2347FC18C4FF}"/>
              </a:ext>
            </a:extLst>
          </p:cNvPr>
          <p:cNvSpPr/>
          <p:nvPr/>
        </p:nvSpPr>
        <p:spPr>
          <a:xfrm>
            <a:off x="9790938" y="4901184"/>
            <a:ext cx="1721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details</a:t>
            </a:r>
            <a:endParaRPr lang="en-US" sz="1300" dirty="0"/>
          </a:p>
        </p:txBody>
      </p:sp>
      <p:sp>
        <p:nvSpPr>
          <p:cNvPr id="146" name="Text 41">
            <a:extLst>
              <a:ext uri="{FF2B5EF4-FFF2-40B4-BE49-F238E27FC236}">
                <a16:creationId xmlns:a16="http://schemas.microsoft.com/office/drawing/2014/main" id="{4B6B7FC2-D6AF-00F2-F02A-B8BB4C927D63}"/>
              </a:ext>
            </a:extLst>
          </p:cNvPr>
          <p:cNvSpPr/>
          <p:nvPr/>
        </p:nvSpPr>
        <p:spPr>
          <a:xfrm>
            <a:off x="9790938" y="5193792"/>
            <a:ext cx="1721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52-week, day high / low, volume</a:t>
            </a:r>
            <a:endParaRPr lang="en-US" sz="980" dirty="0"/>
          </a:p>
        </p:txBody>
      </p:sp>
      <p:sp>
        <p:nvSpPr>
          <p:cNvPr id="147" name="Text 42">
            <a:extLst>
              <a:ext uri="{FF2B5EF4-FFF2-40B4-BE49-F238E27FC236}">
                <a16:creationId xmlns:a16="http://schemas.microsoft.com/office/drawing/2014/main" id="{47A16542-BD67-6360-E98A-2256D6DE1477}"/>
              </a:ext>
            </a:extLst>
          </p:cNvPr>
          <p:cNvSpPr/>
          <p:nvPr/>
        </p:nvSpPr>
        <p:spPr>
          <a:xfrm>
            <a:off x="548640" y="59070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handling on every external call keeps the trading experience smooth and uninterrupted.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2519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21824" y="329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25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 ·  A Full Stack Trading Platform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QUALITY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31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2670048" cy="1508760"/>
          </a:xfrm>
          <a:prstGeom prst="roundRect">
            <a:avLst>
              <a:gd name="adj" fmla="val 7273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49808" y="196596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768096" y="27523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8096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64992" y="1783080"/>
            <a:ext cx="2670048" cy="1508760"/>
          </a:xfrm>
          <a:prstGeom prst="roundRect">
            <a:avLst>
              <a:gd name="adj" fmla="val 7273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566160" y="196596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3584448" y="27523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cases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584448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81344" y="1783080"/>
            <a:ext cx="2670048" cy="1508760"/>
          </a:xfrm>
          <a:prstGeom prst="roundRect">
            <a:avLst>
              <a:gd name="adj" fmla="val 7273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382512" y="196596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18" name="Text 15"/>
          <p:cNvSpPr/>
          <p:nvPr/>
        </p:nvSpPr>
        <p:spPr>
          <a:xfrm>
            <a:off x="6400800" y="27523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00800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modules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997696" y="1783080"/>
            <a:ext cx="2670048" cy="1508760"/>
          </a:xfrm>
          <a:prstGeom prst="roundRect">
            <a:avLst>
              <a:gd name="adj" fmla="val 7273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9198864" y="196596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 dirty="0"/>
          </a:p>
        </p:txBody>
      </p:sp>
      <p:sp>
        <p:nvSpPr>
          <p:cNvPr id="22" name="Text 19"/>
          <p:cNvSpPr/>
          <p:nvPr/>
        </p:nvSpPr>
        <p:spPr>
          <a:xfrm>
            <a:off x="9217152" y="27523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verified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217152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· BE · DB · API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3520440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768096" y="3813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167" y="3966119"/>
            <a:ext cx="260787" cy="26078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508760" y="3703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backend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1508760" y="399592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config, JWT &amp; admin middleware, stock helpers and market-data merge logic run via the Node test runner.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199632" y="3520440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6419088" y="3813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159" y="3966119"/>
            <a:ext cx="260787" cy="260787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159752" y="3703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functional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7159752" y="399592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protected routes, search, watchlist, funds, buy/sell, holdings, profile &amp; admin access.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48640" y="4873752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768096" y="5166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167" y="5319431"/>
            <a:ext cx="260787" cy="260787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508760" y="50566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database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1508760" y="5349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verified in Postman; correct storage &amp; retrieval confirmed in MongoDB Atlas.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6199632" y="4873752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4"/>
          <p:cNvSpPr/>
          <p:nvPr/>
        </p:nvSpPr>
        <p:spPr>
          <a:xfrm>
            <a:off x="6419088" y="5166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159" y="5319431"/>
            <a:ext cx="260787" cy="260787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159752" y="50566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7159752" y="5349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navigation and usability validated across desktop and mobile screen widths.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2519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21824" y="329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25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 ·  A Full Stack Trading Platform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WRAP-UP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731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212080" cy="4389120"/>
          </a:xfrm>
          <a:prstGeom prst="roundRect">
            <a:avLst>
              <a:gd name="adj" fmla="val 2917"/>
            </a:avLst>
          </a:prstGeom>
          <a:solidFill>
            <a:srgbClr val="0D1424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22960" y="19385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23A2E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06" y="2101474"/>
            <a:ext cx="277612" cy="2776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54480" y="2249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achieved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41248" y="28803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Sphere was successfully built as a complete, risk-free stock-trading simulation unifying frontend, backend, database, authentication, trading workflows, external API integration and cloud deployment in a single platform.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0873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5296" y="40507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 &amp; role-based admin access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54456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25296" y="45079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market data via Upstox API integration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00176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25296" y="49651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scalable three-app architecture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45896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25296" y="54223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publicly deployed on Vercel + Atlas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062472" y="1737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062472" y="2121408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6"/>
          <p:cNvSpPr/>
          <p:nvPr/>
        </p:nvSpPr>
        <p:spPr>
          <a:xfrm>
            <a:off x="6245352" y="224028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609" y="2378537"/>
            <a:ext cx="235549" cy="235549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03720" y="2231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streaming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6903720" y="2505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live quotes &amp; candlestick updates.</a:t>
            </a:r>
            <a:endParaRPr lang="en-US" sz="980" dirty="0"/>
          </a:p>
        </p:txBody>
      </p:sp>
      <p:sp>
        <p:nvSpPr>
          <p:cNvPr id="28" name="Shape 19"/>
          <p:cNvSpPr/>
          <p:nvPr/>
        </p:nvSpPr>
        <p:spPr>
          <a:xfrm>
            <a:off x="6062472" y="2926080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0"/>
          <p:cNvSpPr/>
          <p:nvPr/>
        </p:nvSpPr>
        <p:spPr>
          <a:xfrm>
            <a:off x="6245352" y="304495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609" y="3183209"/>
            <a:ext cx="235549" cy="235549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03720" y="3035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690372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prediction &amp; recommendation engine.</a:t>
            </a:r>
            <a:endParaRPr lang="en-US" sz="980" dirty="0"/>
          </a:p>
        </p:txBody>
      </p:sp>
      <p:sp>
        <p:nvSpPr>
          <p:cNvPr id="33" name="Shape 23"/>
          <p:cNvSpPr/>
          <p:nvPr/>
        </p:nvSpPr>
        <p:spPr>
          <a:xfrm>
            <a:off x="6062472" y="3730752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4"/>
          <p:cNvSpPr/>
          <p:nvPr/>
        </p:nvSpPr>
        <p:spPr>
          <a:xfrm>
            <a:off x="6245352" y="384962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3609" y="3987881"/>
            <a:ext cx="235549" cy="235549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90372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</a:t>
            </a:r>
            <a:endParaRPr lang="en-US" sz="1250" dirty="0"/>
          </a:p>
        </p:txBody>
      </p:sp>
      <p:sp>
        <p:nvSpPr>
          <p:cNvPr id="37" name="Text 26"/>
          <p:cNvSpPr/>
          <p:nvPr/>
        </p:nvSpPr>
        <p:spPr>
          <a:xfrm>
            <a:off x="690372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Android &amp; iOS clients.</a:t>
            </a:r>
            <a:endParaRPr lang="en-US" sz="980" dirty="0"/>
          </a:p>
        </p:txBody>
      </p:sp>
      <p:sp>
        <p:nvSpPr>
          <p:cNvPr id="38" name="Shape 27"/>
          <p:cNvSpPr/>
          <p:nvPr/>
        </p:nvSpPr>
        <p:spPr>
          <a:xfrm>
            <a:off x="6062472" y="4535424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28"/>
          <p:cNvSpPr/>
          <p:nvPr/>
        </p:nvSpPr>
        <p:spPr>
          <a:xfrm>
            <a:off x="6245352" y="465429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3609" y="4792553"/>
            <a:ext cx="235549" cy="235549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90372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</a:t>
            </a:r>
            <a:endParaRPr lang="en-US" sz="1250" dirty="0"/>
          </a:p>
        </p:txBody>
      </p:sp>
      <p:sp>
        <p:nvSpPr>
          <p:cNvPr id="42" name="Text 30"/>
          <p:cNvSpPr/>
          <p:nvPr/>
        </p:nvSpPr>
        <p:spPr>
          <a:xfrm>
            <a:off x="6903720" y="4919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account security via 2FA.</a:t>
            </a:r>
            <a:endParaRPr lang="en-US" sz="980" dirty="0"/>
          </a:p>
        </p:txBody>
      </p:sp>
      <p:sp>
        <p:nvSpPr>
          <p:cNvPr id="43" name="Shape 31"/>
          <p:cNvSpPr/>
          <p:nvPr/>
        </p:nvSpPr>
        <p:spPr>
          <a:xfrm>
            <a:off x="6062472" y="5340096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2"/>
          <p:cNvSpPr/>
          <p:nvPr/>
        </p:nvSpPr>
        <p:spPr>
          <a:xfrm>
            <a:off x="6245352" y="54589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3609" y="5597225"/>
            <a:ext cx="235549" cy="235549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6903720" y="5449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+ containers</a:t>
            </a:r>
            <a:endParaRPr lang="en-US" sz="1250" dirty="0"/>
          </a:p>
        </p:txBody>
      </p:sp>
      <p:sp>
        <p:nvSpPr>
          <p:cNvPr id="47" name="Text 34"/>
          <p:cNvSpPr/>
          <p:nvPr/>
        </p:nvSpPr>
        <p:spPr>
          <a:xfrm>
            <a:off x="6903720" y="5724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Containerised, independently scalable services.</a:t>
            </a:r>
            <a:endParaRPr lang="en-US" sz="9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286000"/>
            <a:ext cx="7315200" cy="6400800"/>
          </a:xfrm>
          <a:prstGeom prst="ellipse">
            <a:avLst/>
          </a:prstGeom>
          <a:solidFill>
            <a:srgbClr val="1E3A6E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286000" y="3200400"/>
            <a:ext cx="6400800" cy="5943600"/>
          </a:xfrm>
          <a:prstGeom prst="ellipse">
            <a:avLst/>
          </a:prstGeom>
          <a:solidFill>
            <a:srgbClr val="11203A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03504"/>
            <a:ext cx="146304" cy="146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1700" b="1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 YOU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54864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demonstration welcome.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4297680"/>
            <a:ext cx="5212080" cy="960120"/>
          </a:xfrm>
          <a:prstGeom prst="roundRect">
            <a:avLst>
              <a:gd name="adj" fmla="val 11429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68096" y="44988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9" y="4646981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4443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63040" y="47365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C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full-stack-trading-platform-rhma.vercel.app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89320" y="4297680"/>
            <a:ext cx="5212080" cy="960120"/>
          </a:xfrm>
          <a:prstGeom prst="roundRect">
            <a:avLst>
              <a:gd name="adj" fmla="val 11429"/>
            </a:avLst>
          </a:prstGeom>
          <a:solidFill>
            <a:srgbClr val="141C30"/>
          </a:solidFill>
          <a:ln w="12700">
            <a:solidFill>
              <a:srgbClr val="29344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208776" y="44988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2540"/>
          </a:solidFill>
          <a:ln w="12700">
            <a:solidFill>
              <a:srgbClr val="29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909" y="4646981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4443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903720" y="47365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github.com/Piyush98906/full-stack-trading-platform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Kiran Oswal  ·  MCA-II (Sem-IV)  ·  Roll No. 26424  ·  Dr. D. Y. Patil School of MCA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1466</Words>
  <Application>Microsoft Office PowerPoint</Application>
  <PresentationFormat>Widescreen</PresentationFormat>
  <Paragraphs>319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Sphere</dc:title>
  <dc:subject>PptxGenJS Presentation</dc:subject>
  <dc:creator>Piyush Kiran Oswal</dc:creator>
  <cp:lastModifiedBy>piyush.oswal24@outlook.com</cp:lastModifiedBy>
  <cp:revision>2</cp:revision>
  <dcterms:created xsi:type="dcterms:W3CDTF">2026-06-14T16:41:09Z</dcterms:created>
  <dcterms:modified xsi:type="dcterms:W3CDTF">2026-06-15T04:07:42Z</dcterms:modified>
</cp:coreProperties>
</file>